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99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060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positioning the benchmark as Alchemy Tweaks-owned measurement. Make clear this is not a vendor claim or copied benchmark: the data comes from the two supplied Excel workbooks and the in-house tools listed in the setup sheets.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give the answer first. Do not bury the verdict behind methodology. Say: 'If you came for FPS, the answer is Arsenza INTEL. If you came for DPC/ISR latency, the answer is Kizzimo. If you want a steadier latency profile with lower overhead, amit's plan is the practical balanced option.'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a static scene is a deliberate integrity choice. The benchmark is not trying to simulate every match; it isolates the effect of the power plan under controlled conditions. Mention that raw data stays in Excel, not on the presentation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credibility slide. The strongest points are the repeated captures, 2.68 million frames, zero lost ETW events, and no clock throttling. Also state the limitation: the result should be treated as benchmark evidence, not a universal law for every PC.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chart as a controlled FPS summary, not a raw table. Emphasize that Arsenza leads, but EndGame is statistically tied. Use the stock references to show why tuned plans matter in this FPS workload.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prevent a common mistake: average FPS and 0.1% low do not always pick the same plan. Say that LLG is valuable if deep dips matter most, but Arsenza remains the overall FPS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the FPS decision summary. Avoid reading the full plan list. Say that only a small group deserves further attention, and that most plans are rejected because they are measurably slower or add no smoothness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DPC p99 in plain language: it is the near-worst-case DPC duration. Lower is better. Kizzimo is the headline latency winner, but remind viewers that every plan is below the problematic range noted in the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makes the trade-off clear. A plan can win p99 but carry higher combined CPU busy. If viewers care about system overhead, VTRL and ARSENZA deserve attention even though they are not the p99 winner.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latency verdicts without showing all 39 plans. Clarify that Reject does not mean a broken plan; it means no advantage for the specific latency objective in this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decision matrix as the final practical guide. The safest phrasing is: 'For gaming FPS I would run Arsenza INTEL; for a latency-only DPC benchmark I would run Kizzimo; for balanced latency I would keep amit's plan in consideration.'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can be used near the end to keep the video credible. It prevents over-claiming and directs detail-oriented viewers back to the Excel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honest split verdict. Do not claim a universal winner. Recommend Arsenza INTEL for FPS, Kizzimo for DPC p99, and amit's plan for a balanced latency profile.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640080" y="64008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PLAN BENCHMARK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21792" y="9875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&amp; Latency Analysis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7373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 Windows power plans tested by Alchemy Tweaks on a controlled Fortnite + DPC/ISR latency setup.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58368" y="2487168"/>
            <a:ext cx="370332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96112" y="270662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by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5351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4015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In-house tools · documented hardware · repeat captures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2487168"/>
            <a:ext cx="3090672" cy="1572768"/>
          </a:xfrm>
          <a:prstGeom prst="roundRect">
            <a:avLst>
              <a:gd name="adj" fmla="val 4651"/>
            </a:avLst>
          </a:prstGeom>
          <a:solidFill>
            <a:srgbClr val="E8F2FF"/>
          </a:solidFill>
          <a:ln w="10160">
            <a:solidFill>
              <a:srgbClr val="CFE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901184" y="2706624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Primary verdict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4901184" y="2953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Split winner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901184" y="3401568"/>
            <a:ext cx="2331720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FPS and best latency are not the same objective.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8275320" y="914400"/>
            <a:ext cx="2971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914400"/>
            <a:ext cx="73152" cy="87782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439912" y="106070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PLANS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39912" y="1206754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75320" y="1965960"/>
            <a:ext cx="2971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5320" y="1965960"/>
            <a:ext cx="73152" cy="87782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8439912" y="211226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RUNS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449056" y="22885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8487537" y="2667000"/>
            <a:ext cx="26974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captures per plan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75320" y="3009900"/>
            <a:ext cx="2971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275320" y="3017520"/>
            <a:ext cx="73152" cy="877824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439912" y="316382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RUNS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3299461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117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8275320" y="4069080"/>
            <a:ext cx="29718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275320" y="4069080"/>
            <a:ext cx="73152" cy="877824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439912" y="4215384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FRAMES ANALYZED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439912" y="4366642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2.68M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63550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FPS + Latency analysis workbooks</a:t>
            </a:r>
            <a:endParaRPr lang="en-US" sz="8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4426FC4E-EA7D-555A-4526-C3D051DAD440}"/>
              </a:ext>
            </a:extLst>
          </p:cNvPr>
          <p:cNvSpPr txBox="1"/>
          <p:nvPr/>
        </p:nvSpPr>
        <p:spPr>
          <a:xfrm>
            <a:off x="8449056" y="1585849"/>
            <a:ext cx="26974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rig, same OS image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3A058E3D-9159-E583-C4DC-E437F87C4229}"/>
              </a:ext>
            </a:extLst>
          </p:cNvPr>
          <p:cNvSpPr txBox="1"/>
          <p:nvPr/>
        </p:nvSpPr>
        <p:spPr>
          <a:xfrm>
            <a:off x="8449056" y="3657600"/>
            <a:ext cx="26974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ETWs per run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52FEF04A-7513-BAB1-06C0-A995A296A8F9}"/>
              </a:ext>
            </a:extLst>
          </p:cNvPr>
          <p:cNvSpPr txBox="1"/>
          <p:nvPr/>
        </p:nvSpPr>
        <p:spPr>
          <a:xfrm>
            <a:off x="8439912" y="4743451"/>
            <a:ext cx="269748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chemeClr val="bg1">
                    <a:lumMod val="65000"/>
                  </a:schemeClr>
                </a:solidFill>
                <a:latin typeface="Segoe UI" pitchFamily="34" charset="0"/>
                <a:cs typeface="Segoe UI" pitchFamily="34" charset="-120"/>
              </a:rPr>
              <a:t>FPS workbook total</a:t>
            </a:r>
            <a:endParaRPr 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VERDICT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02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6799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practical answer: choose the plan by the performance goal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646357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chemeClr val="bg1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FPS winner and the latency winner optimize different metrics, treating one plan as universal would overstate the data.</a:t>
            </a:r>
            <a:endParaRPr lang="en-US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15087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508760"/>
            <a:ext cx="73152" cy="155448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165506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 FPS</a:t>
            </a:r>
            <a:endParaRPr lang="en-US" sz="95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194767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368296"/>
            <a:ext cx="3246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chemeClr val="bg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242.0 Avg FPS · 192.6 1% low · CV 0.4%</a:t>
            </a:r>
            <a:endParaRPr lang="en-US" sz="97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70832" y="150876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70832" y="1508760"/>
            <a:ext cx="73152" cy="155448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35424" y="1655064"/>
            <a:ext cx="3246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 DPC P99 LATENCY</a:t>
            </a:r>
            <a:endParaRPr lang="en-US" sz="9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535424" y="194767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35424" y="2368296"/>
            <a:ext cx="324612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chemeClr val="bg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115.2 µs DPC p99 · CV 0.1%</a:t>
            </a:r>
            <a:endParaRPr lang="en-US" sz="97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101584" y="1508760"/>
            <a:ext cx="34290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01584" y="1508760"/>
            <a:ext cx="73152" cy="15544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66176" y="1655064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chemeClr val="tx2">
                    <a:lumMod val="7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BALANCED LATENCY</a:t>
            </a:r>
            <a:endParaRPr lang="en-US" sz="95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266176" y="1947672"/>
            <a:ext cx="3154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66176" y="2368296"/>
            <a:ext cx="3154680" cy="6400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chemeClr val="bg1">
                    <a:lumMod val="50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171.8 µs · 1.24% combined CPU busy</a:t>
            </a:r>
            <a:endParaRPr lang="en-US" sz="97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" y="3429000"/>
            <a:ext cx="1088136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896112" y="3657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 verdict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96112" y="4041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02336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FPS: Arsenza INTEL leads, with EndGame statistically interchangeable.</a:t>
            </a:r>
            <a:endParaRPr lang="en-US" sz="1240" dirty="0"/>
          </a:p>
        </p:txBody>
      </p:sp>
      <p:sp>
        <p:nvSpPr>
          <p:cNvPr id="29" name="Text 27"/>
          <p:cNvSpPr txBox="1"/>
          <p:nvPr/>
        </p:nvSpPr>
        <p:spPr>
          <a:xfrm>
            <a:off x="4864608" y="4041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402336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worst-case latency: Kizzimo is the clear DPC p99 winner.</a:t>
            </a:r>
            <a:endParaRPr lang="en-US" sz="1240" dirty="0"/>
          </a:p>
        </p:txBody>
      </p:sp>
      <p:sp>
        <p:nvSpPr>
          <p:cNvPr id="31" name="Text 29"/>
          <p:cNvSpPr txBox="1"/>
          <p:nvPr/>
        </p:nvSpPr>
        <p:spPr>
          <a:xfrm>
            <a:off x="8577072" y="404164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887968" y="3913632"/>
            <a:ext cx="2377440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a safer latency profile: amit's low latency trades peak p99 for consistency and lower overhead.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166360"/>
            <a:ext cx="10881360" cy="658368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 w="1016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896112" y="534009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 caveat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2359152" y="53035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a controlled single-rig benchmark: the result is strong for this hardware, OS build and scene, but viewers should validate on their own systems before treating it as universal.</a:t>
            </a:r>
            <a:endParaRPr lang="en-US" sz="10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03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466344" y="263723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benchmark isolates power-plan behavior on one controlled Windows build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498690" y="521208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Windows power plan changed between captures, the OS image, hardware and test scene remained fixed.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1417320"/>
            <a:ext cx="73152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04672" y="156362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17419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i5-10400F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04672" y="2039112"/>
            <a:ext cx="2331720" cy="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Autofit/>
          </a:bodyPr>
          <a:lstStyle>
            <a:lvl1pPr algn="l"/>
          </a:lstStyle>
          <a:p>
            <a:pPr marL="0" indent="0" algn="l">
              <a:buNone/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Hyperthreading OFF</a:t>
            </a:r>
            <a:endParaRPr 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56432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56432" y="1417320"/>
            <a:ext cx="73152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621024" y="156362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GPU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621024" y="1741932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RX 5700 XT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72784" y="141732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72784" y="1417320"/>
            <a:ext cx="73152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437376" y="1563624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DISPLAY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413246" y="1743456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1080p · 144 Hz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089136" y="1417320"/>
            <a:ext cx="24231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089136" y="1417320"/>
            <a:ext cx="73152" cy="9144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253728" y="1563624"/>
            <a:ext cx="2148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253728" y="1760982"/>
            <a:ext cx="2148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 11 26200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40080" y="2712720"/>
            <a:ext cx="5074920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14400" y="29443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capture terminology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14400" y="3273552"/>
            <a:ext cx="44348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Fortnite custom 1v1 static scene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Capture-FPS.ps1 v2.0.0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Intel PresentMon 2.4.1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 captures per plan · 65 s each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first 5 s discarded → 60 s analyzed</a:t>
            </a:r>
            <a:endParaRPr lang="en-US" sz="1220" dirty="0"/>
          </a:p>
        </p:txBody>
      </p:sp>
      <p:sp>
        <p:nvSpPr>
          <p:cNvPr id="33" name="Shape 31"/>
          <p:cNvSpPr/>
          <p:nvPr/>
        </p:nvSpPr>
        <p:spPr>
          <a:xfrm>
            <a:off x="6419088" y="2697480"/>
            <a:ext cx="5102352" cy="2395728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6693408" y="294436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capture terminology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693408" y="3273552"/>
            <a:ext cx="44622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Same fixed scene and system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Measure-Latency.ps1 v1.1.0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WPT xperf kernel ETW traces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 captures per plan · ~40 s traces</a:t>
            </a:r>
            <a:endParaRPr lang="en-US" sz="1220" dirty="0"/>
          </a:p>
          <a:p>
            <a:pPr marL="0" indent="0" algn="l">
              <a:buNone/>
            </a:pPr>
            <a:r>
              <a:rPr lang="en-US" sz="12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DPC/ISR metrics, lower is better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640080" y="5358384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8F2FF"/>
          </a:solidFill>
          <a:ln w="10160">
            <a:solidFill>
              <a:srgbClr val="E8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914400" y="554050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integrity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450592" y="5550408"/>
            <a:ext cx="8522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Repeated captures, documented tools and a fixed static scene reduce gameplay randomness; the Excel files remain the backup evidence for raw runs.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QUALITY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04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dataset is stable enough for a summary verdict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run counts and integrity checks support a credible comparison without putting raw tables on the slides.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417320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417320"/>
            <a:ext cx="73152" cy="1243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50392" y="15636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COVERAGE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50392" y="18562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195 runs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850392" y="2276856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 plans × 5 captures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3401568" y="1417320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01568" y="1417320"/>
            <a:ext cx="73152" cy="1243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3566160" y="15636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FRAMES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18562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2.68M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3566160" y="2276856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frames analyzed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6126480" y="1417320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26480" y="1417320"/>
            <a:ext cx="73152" cy="1243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291072" y="15636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CV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291072" y="18562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0.41%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2276856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per-plan CV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8851392" y="1417320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851392" y="1417320"/>
            <a:ext cx="73152" cy="1243584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9015984" y="1563624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DROPPED RUNS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015984" y="1856232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015984" y="2276856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failed captures replaced/excluded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685800" y="3035808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85800" y="3035808"/>
            <a:ext cx="73152" cy="1243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850392" y="31821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COVERAGE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850392" y="34747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117 traces</a:t>
            </a:r>
            <a:endParaRPr lang="en-US" sz="2400" dirty="0"/>
          </a:p>
        </p:txBody>
      </p:sp>
      <p:sp>
        <p:nvSpPr>
          <p:cNvPr id="34" name="Text 32"/>
          <p:cNvSpPr txBox="1"/>
          <p:nvPr/>
        </p:nvSpPr>
        <p:spPr>
          <a:xfrm>
            <a:off x="850392" y="3895344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 plans × 3 captures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3401568" y="3035808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01568" y="3035808"/>
            <a:ext cx="73152" cy="1243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3566160" y="31821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LOST ETW EVENTS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3566160" y="34747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3566160" y="3895344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trace set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6126480" y="3035808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126480" y="3035808"/>
            <a:ext cx="73152" cy="1243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6291072" y="31821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CV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291072" y="34747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0.92%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6291072" y="3895344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DPC p99 CV</a:t>
            </a:r>
            <a:endParaRPr lang="en-US" sz="970" dirty="0"/>
          </a:p>
        </p:txBody>
      </p:sp>
      <p:sp>
        <p:nvSpPr>
          <p:cNvPr id="45" name="Shape 43"/>
          <p:cNvSpPr/>
          <p:nvPr/>
        </p:nvSpPr>
        <p:spPr>
          <a:xfrm>
            <a:off x="8851392" y="3035808"/>
            <a:ext cx="2514600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851392" y="3035808"/>
            <a:ext cx="73152" cy="124358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015984" y="3182112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CPU CLOCK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015984" y="3474720"/>
            <a:ext cx="2240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~2.89 GHz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9015984" y="3895344"/>
            <a:ext cx="2240280" cy="3291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plan throttled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685800" y="4773168"/>
            <a:ext cx="106801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722376" y="506962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 boundary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2510840" y="5050054"/>
            <a:ext cx="82753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Differences are strong within this controlled setup, but absolute rankings can change with CPU, GPU driver, Windows build, game scene and background services.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RESULTS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05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 leads FPS, with EndGame effectively interchangeable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community plans cluster tightly at the top, Microsoft stock references trail the field leaders.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1371600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FPS, higher is better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9549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768058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02736" y="2051522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02736" y="1777202"/>
            <a:ext cx="3717882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571232" y="176805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242.0 FPS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50661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323229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EndGame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02736" y="2606693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02736" y="2332373"/>
            <a:ext cx="369932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571232" y="2323229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240.8 FPS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905833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878401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Prodazin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02736" y="3161865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02736" y="2887545"/>
            <a:ext cx="3675802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571232" y="2878401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239.3 FPS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461004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3433572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602736" y="3717036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602736" y="3442716"/>
            <a:ext cx="3671966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571232" y="3433572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239.0 FPS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4016175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3988743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LLG Parking + E-core Fix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02736" y="4272207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602736" y="3997887"/>
            <a:ext cx="3665506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571232" y="3988743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238.6 FPS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571347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4543915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High Performance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02736" y="4827379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02736" y="4553059"/>
            <a:ext cx="348000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7571232" y="4543915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226.5 FPS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12651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5099086"/>
            <a:ext cx="2377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Ultimate Performance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602736" y="5382550"/>
            <a:ext cx="384048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602736" y="5108230"/>
            <a:ext cx="3413355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7571232" y="5099086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222.2 FPS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823960" y="1627632"/>
            <a:ext cx="2606040" cy="388620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070848" y="1874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verdict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070848" y="22860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</a:t>
            </a:r>
            <a:endParaRPr lang="en-US" sz="860" dirty="0"/>
          </a:p>
        </p:txBody>
      </p:sp>
      <p:sp>
        <p:nvSpPr>
          <p:cNvPr id="49" name="Text 47"/>
          <p:cNvSpPr txBox="1"/>
          <p:nvPr/>
        </p:nvSpPr>
        <p:spPr>
          <a:xfrm>
            <a:off x="9070848" y="248716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1550" dirty="0"/>
          </a:p>
        </p:txBody>
      </p:sp>
      <p:sp>
        <p:nvSpPr>
          <p:cNvPr id="50" name="Text 48"/>
          <p:cNvSpPr txBox="1"/>
          <p:nvPr/>
        </p:nvSpPr>
        <p:spPr>
          <a:xfrm>
            <a:off x="9070848" y="2834640"/>
            <a:ext cx="1993392" cy="8046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EndGame is statistically tied with the leader (p=0.09), so the practical FPS gap is not meaningful in this run set.</a:t>
            </a:r>
            <a:endParaRPr lang="en-US" sz="1030" dirty="0"/>
          </a:p>
        </p:txBody>
      </p:sp>
      <p:sp>
        <p:nvSpPr>
          <p:cNvPr id="51" name="Text 49"/>
          <p:cNvSpPr txBox="1"/>
          <p:nvPr/>
        </p:nvSpPr>
        <p:spPr>
          <a:xfrm>
            <a:off x="9070848" y="3886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gap</a:t>
            </a:r>
            <a:endParaRPr lang="en-US" sz="860" dirty="0"/>
          </a:p>
        </p:txBody>
      </p:sp>
      <p:sp>
        <p:nvSpPr>
          <p:cNvPr id="52" name="Text 50"/>
          <p:cNvSpPr txBox="1"/>
          <p:nvPr/>
        </p:nvSpPr>
        <p:spPr>
          <a:xfrm>
            <a:off x="9070848" y="4087368"/>
            <a:ext cx="1993392" cy="6035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High Performance sits −6.4% vs the top plan; Ultimate Performance sits −8.2%.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SMOOTHNESS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06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Low-frame metrics confirm the winner, but highlight a specialist plan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remains the best all-round FPS plan, LLG Parking + E-core Fix has the strongest deepest-dip metric.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849624" y="135331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0.1% Low FPS, higher is better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79679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176936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849624" y="2052828"/>
            <a:ext cx="205740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9624" y="1778508"/>
            <a:ext cx="1930384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035040" y="176936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168.9 FPS</a:t>
            </a:r>
            <a:endParaRPr lang="en-US" sz="112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239115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42416" y="236372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EndGame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849624" y="2647188"/>
            <a:ext cx="205740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9624" y="2372868"/>
            <a:ext cx="1940742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035040" y="236372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169.8 FPS</a:t>
            </a:r>
            <a:endParaRPr lang="en-US" sz="112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29855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295808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LLG Parking + E-core Fix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849624" y="3241548"/>
            <a:ext cx="205740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9624" y="2967228"/>
            <a:ext cx="1947248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035040" y="295808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170.4 FPS</a:t>
            </a:r>
            <a:endParaRPr lang="en-US" sz="112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35798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355244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Prodazin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3849624" y="3835908"/>
            <a:ext cx="205740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49624" y="3561588"/>
            <a:ext cx="1906624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035040" y="355244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166.8 FPS</a:t>
            </a:r>
            <a:endParaRPr lang="en-US" sz="112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417423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4146804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3849624" y="4430268"/>
            <a:ext cx="205740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49624" y="4155948"/>
            <a:ext cx="1717804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6035040" y="414680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150.3 FPS</a:t>
            </a:r>
            <a:endParaRPr lang="en-US" sz="1120" dirty="0"/>
          </a:p>
        </p:txBody>
      </p:sp>
      <p:sp>
        <p:nvSpPr>
          <p:cNvPr id="36" name="Shape 34"/>
          <p:cNvSpPr/>
          <p:nvPr/>
        </p:nvSpPr>
        <p:spPr>
          <a:xfrm>
            <a:off x="7315200" y="1572768"/>
            <a:ext cx="4160520" cy="303580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607808" y="181051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interpret smoothness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607808" y="2157984"/>
            <a:ext cx="3456432" cy="4937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FPS decides the FPS winner. Low-frame metrics show whether that speed holds under the worst rendered moments.</a:t>
            </a:r>
            <a:endParaRPr lang="en-US" sz="1080" dirty="0"/>
          </a:p>
        </p:txBody>
      </p:sp>
      <p:sp>
        <p:nvSpPr>
          <p:cNvPr id="39" name="Text 37"/>
          <p:cNvSpPr txBox="1"/>
          <p:nvPr/>
        </p:nvSpPr>
        <p:spPr>
          <a:xfrm>
            <a:off x="7607808" y="2889504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Specialist pick</a:t>
            </a:r>
            <a:endParaRPr lang="en-US" sz="860" dirty="0"/>
          </a:p>
        </p:txBody>
      </p:sp>
      <p:sp>
        <p:nvSpPr>
          <p:cNvPr id="40" name="Text 38"/>
          <p:cNvSpPr txBox="1"/>
          <p:nvPr/>
        </p:nvSpPr>
        <p:spPr>
          <a:xfrm>
            <a:off x="7607808" y="3090672"/>
            <a:ext cx="3154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LLG Parking + E-core Fix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7607808" y="3447288"/>
            <a:ext cx="3364992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0.1% low (170.4 FPS), while still staying near the average-FPS leaders.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658368" y="4956048"/>
            <a:ext cx="10817352" cy="658368"/>
          </a:xfrm>
          <a:prstGeom prst="roundRect">
            <a:avLst>
              <a:gd name="adj" fmla="val 11111"/>
            </a:avLst>
          </a:prstGeom>
          <a:solidFill>
            <a:srgbClr val="E8F2FF"/>
          </a:solidFill>
          <a:ln w="10160">
            <a:solidFill>
              <a:srgbClr val="E8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914400" y="51663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Bottom line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2112264" y="5166360"/>
            <a:ext cx="8714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Arsenza INTEL for the best FPS verdict, mention LLG as a smoothness specialist, not as the headline FPS winner.</a:t>
            </a:r>
            <a:endParaRPr lang="en-US" sz="10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VERDICTS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07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625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plans are rejected because they do not add a measurable FPS advantage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verdict table is summarized here, the raw per-plan details remain in the workbook.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E7F6E7"/>
          </a:solidFill>
          <a:ln w="10160">
            <a:solidFill>
              <a:srgbClr val="E7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16459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191109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2350008"/>
            <a:ext cx="291693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winner + close specialists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FF4CE"/>
          </a:solidFill>
          <a:ln w="10160">
            <a:solidFill>
              <a:srgbClr val="FFF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26864" y="16459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AGAIN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191109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2350008"/>
            <a:ext cx="291693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promising but noisy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1508760"/>
            <a:ext cx="3246120" cy="1417320"/>
          </a:xfrm>
          <a:prstGeom prst="roundRect">
            <a:avLst>
              <a:gd name="adj" fmla="val 5161"/>
            </a:avLst>
          </a:prstGeom>
          <a:solidFill>
            <a:srgbClr val="FDE7E9"/>
          </a:solidFill>
          <a:ln w="10160">
            <a:solidFill>
              <a:srgbClr val="FD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302752" y="164592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191109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350008"/>
            <a:ext cx="2916936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slower with no smoothness edge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364992"/>
            <a:ext cx="10607040" cy="1938528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1051560" y="3630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action list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40507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as default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2788920" y="4050792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05079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242.0 Avg FPS, top mean and excellent repeatability.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1060704" y="44348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2788920" y="4434840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EndGame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349240" y="4434840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Statistically tied with Arsenza on average FPS, 240.8 Avg FPS.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060704" y="48188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Smoothness specialist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2788920" y="481888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LLG Parking + E-core Fix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481888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170.4 FPS 0.1% low, best deepest-dip metric.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RESULTS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08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is the clear DPC p99 latency winner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metrics are lower-is-better, all plans remain healthy in absolute terms, but Kizzimo separates clearly from the field.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57016" y="135331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DPC p99 latency, lower is better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77202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74977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3557016" y="2033234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557016" y="1758914"/>
            <a:ext cx="2292049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662672" y="174977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115.2 µs</a:t>
            </a:r>
            <a:endParaRPr lang="en-US" sz="112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332373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304941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Lowest Latency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3557016" y="2588405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57016" y="2314085"/>
            <a:ext cx="3202663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662672" y="2304941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161.0 µs</a:t>
            </a:r>
            <a:endParaRPr lang="en-US" sz="112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2887545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860113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Reticle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3557016" y="3143577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557016" y="2869257"/>
            <a:ext cx="3322390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662672" y="2860113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167.1 µs</a:t>
            </a:r>
            <a:endParaRPr lang="en-US" sz="112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4427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341528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3557016" y="3698748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557016" y="3424428"/>
            <a:ext cx="3415798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7662672" y="3415284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171.8 µs</a:t>
            </a:r>
            <a:endParaRPr lang="en-US" sz="112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3997887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3970455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CactusOS Absolute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3557016" y="4253919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557016" y="3979599"/>
            <a:ext cx="3484943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7662672" y="3970455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175.2 µs</a:t>
            </a:r>
            <a:endParaRPr lang="en-US" sz="112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4553059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24128" y="4525627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High Performance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3557016" y="4809091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557016" y="4534771"/>
            <a:ext cx="3506223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7662672" y="4525627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176.3 µs</a:t>
            </a:r>
            <a:endParaRPr lang="en-US" sz="1120" dirty="0"/>
          </a:p>
        </p:txBody>
      </p:sp>
      <p:sp>
        <p:nvSpPr>
          <p:cNvPr id="41" name="Text 39"/>
          <p:cNvSpPr txBox="1"/>
          <p:nvPr/>
        </p:nvSpPr>
        <p:spPr>
          <a:xfrm>
            <a:off x="640080" y="510823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5080798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Ultimate Performance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3557016" y="5364262"/>
            <a:ext cx="3977640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557016" y="5089942"/>
            <a:ext cx="3528564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7662672" y="5080798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2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177.4 µs</a:t>
            </a:r>
            <a:endParaRPr lang="en-US" sz="1120" dirty="0"/>
          </a:p>
        </p:txBody>
      </p:sp>
      <p:sp>
        <p:nvSpPr>
          <p:cNvPr id="46" name="Shape 44"/>
          <p:cNvSpPr/>
          <p:nvPr/>
        </p:nvSpPr>
        <p:spPr>
          <a:xfrm>
            <a:off x="8851392" y="1609344"/>
            <a:ext cx="2578608" cy="388620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9107424" y="186537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verdict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9107424" y="227685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Pure DPC p99</a:t>
            </a:r>
            <a:endParaRPr lang="en-US" sz="860" dirty="0"/>
          </a:p>
        </p:txBody>
      </p:sp>
      <p:sp>
        <p:nvSpPr>
          <p:cNvPr id="49" name="Text 47"/>
          <p:cNvSpPr txBox="1"/>
          <p:nvPr/>
        </p:nvSpPr>
        <p:spPr>
          <a:xfrm>
            <a:off x="9107424" y="2468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</a:t>
            </a:r>
            <a:endParaRPr lang="en-US" sz="1800" dirty="0"/>
          </a:p>
        </p:txBody>
      </p:sp>
      <p:sp>
        <p:nvSpPr>
          <p:cNvPr id="50" name="Text 48"/>
          <p:cNvSpPr txBox="1"/>
          <p:nvPr/>
        </p:nvSpPr>
        <p:spPr>
          <a:xfrm>
            <a:off x="9107424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reaches 115.2 µs, the next tested plan is 161.0 µs and much noisier.</a:t>
            </a:r>
            <a:endParaRPr lang="en-US" sz="1030" dirty="0"/>
          </a:p>
        </p:txBody>
      </p:sp>
      <p:sp>
        <p:nvSpPr>
          <p:cNvPr id="51" name="Text 49"/>
          <p:cNvSpPr txBox="1"/>
          <p:nvPr/>
        </p:nvSpPr>
        <p:spPr>
          <a:xfrm>
            <a:off x="9107424" y="379476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Reality check</a:t>
            </a:r>
            <a:endParaRPr lang="en-US" sz="860" dirty="0"/>
          </a:p>
        </p:txBody>
      </p:sp>
      <p:sp>
        <p:nvSpPr>
          <p:cNvPr id="52" name="Text 50"/>
          <p:cNvSpPr txBox="1"/>
          <p:nvPr/>
        </p:nvSpPr>
        <p:spPr>
          <a:xfrm>
            <a:off x="9107424" y="3995928"/>
            <a:ext cx="2029968" cy="7680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workbook notes all plans are in a healthy absolute DPC range, the comparison is about optimization, not fixing a broken system.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TRADE-OFF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09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latency is not just the lowest p99 number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wins peak p99, amit's and VTRL are better choices when consistency or low overhead matters.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38988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· Responsiveness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127248" y="152704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DPC p99, lower is better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90881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3127248" y="2192274"/>
            <a:ext cx="170992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127248" y="1917954"/>
            <a:ext cx="985318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965192" y="190881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115.2 µs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43459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3127248" y="2718054"/>
            <a:ext cx="170992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127248" y="2443734"/>
            <a:ext cx="1468401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965192" y="243459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171.8 µs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296037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CactusOS Absolute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3127248" y="3243834"/>
            <a:ext cx="170992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127248" y="2969514"/>
            <a:ext cx="1498125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965192" y="296037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175.2 µs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348615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High Performance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3127248" y="3769614"/>
            <a:ext cx="170992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127248" y="3495294"/>
            <a:ext cx="1507273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4965192" y="348615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176.3 µs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77240" y="401193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VTRL Optimized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3127248" y="4295394"/>
            <a:ext cx="170992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27248" y="4021074"/>
            <a:ext cx="1519243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4965192" y="401193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177.7 µs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4537710"/>
            <a:ext cx="2148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 Latency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3127248" y="4821174"/>
            <a:ext cx="170992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127248" y="4546854"/>
            <a:ext cx="1595534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4965192" y="453771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186.6 µs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419088" y="138988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· Overhead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814816" y="1527048"/>
            <a:ext cx="2532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Combined DPC+ISR CPU busy, lower is better</a:t>
            </a:r>
            <a:endParaRPr lang="en-US" sz="850" dirty="0"/>
          </a:p>
        </p:txBody>
      </p:sp>
      <p:sp>
        <p:nvSpPr>
          <p:cNvPr id="38" name="Text 36"/>
          <p:cNvSpPr txBox="1"/>
          <p:nvPr/>
        </p:nvSpPr>
        <p:spPr>
          <a:xfrm>
            <a:off x="6510528" y="190881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8814816" y="2192274"/>
            <a:ext cx="166420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814816" y="1917954"/>
            <a:ext cx="1563246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10607040" y="190881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1.88%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510528" y="243459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8814816" y="2718054"/>
            <a:ext cx="166420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814816" y="2443734"/>
            <a:ext cx="1029571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10607040" y="243459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1.24%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6510528" y="296037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CactusOS Absolute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8814816" y="3243834"/>
            <a:ext cx="166420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8814816" y="2969514"/>
            <a:ext cx="1085131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10607040" y="296037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1.30%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510528" y="348615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High Performance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8814816" y="3769614"/>
            <a:ext cx="166420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814816" y="3495294"/>
            <a:ext cx="1092836" cy="25603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10607040" y="348615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1.31%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6510528" y="401193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VTRL Optimized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8814816" y="4295394"/>
            <a:ext cx="166420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8814816" y="4021074"/>
            <a:ext cx="986521" cy="256032"/>
          </a:xfrm>
          <a:prstGeom prst="rect">
            <a:avLst/>
          </a:prstGeom>
          <a:solidFill>
            <a:srgbClr val="005A9E"/>
          </a:solidFill>
          <a:ln w="12700">
            <a:solidFill>
              <a:srgbClr val="005A9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10607040" y="401193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1.19%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6510528" y="4537710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 Latency</a:t>
            </a:r>
            <a:endParaRPr lang="en-US" sz="1040" dirty="0"/>
          </a:p>
        </p:txBody>
      </p:sp>
      <p:sp>
        <p:nvSpPr>
          <p:cNvPr id="59" name="Shape 57"/>
          <p:cNvSpPr/>
          <p:nvPr/>
        </p:nvSpPr>
        <p:spPr>
          <a:xfrm>
            <a:off x="8814816" y="4821174"/>
            <a:ext cx="1664208" cy="0"/>
          </a:xfrm>
          <a:prstGeom prst="line">
            <a:avLst/>
          </a:prstGeom>
          <a:noFill/>
          <a:ln w="444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8814816" y="4546854"/>
            <a:ext cx="972430" cy="256032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 txBox="1"/>
          <p:nvPr/>
        </p:nvSpPr>
        <p:spPr>
          <a:xfrm>
            <a:off x="10607040" y="4537710"/>
            <a:ext cx="868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1.17%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685800" y="5285232"/>
            <a:ext cx="10808208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 txBox="1"/>
          <p:nvPr/>
        </p:nvSpPr>
        <p:spPr>
          <a:xfrm>
            <a:off x="914400" y="5513451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rule</a:t>
            </a:r>
            <a:endParaRPr lang="en-US" sz="980" dirty="0"/>
          </a:p>
        </p:txBody>
      </p:sp>
      <p:sp>
        <p:nvSpPr>
          <p:cNvPr id="64" name="Text 62"/>
          <p:cNvSpPr txBox="1"/>
          <p:nvPr/>
        </p:nvSpPr>
        <p:spPr>
          <a:xfrm>
            <a:off x="2103120" y="5548123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Kizzimo when minimum DPC p99 is the priority. Use amit's for a safer low-latency profile. Use VTRL / ARSENZA when minimal interrupt overhead matters most.</a:t>
            </a:r>
            <a:endParaRPr lang="en-US" sz="10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VERDICTS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10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recommendations split into three use cases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workbook verdicts distinguish pure p99 latency, balanced consistency and lowest interrupt overhead.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E7F6E7"/>
          </a:solidFill>
          <a:ln w="10160">
            <a:solidFill>
              <a:srgbClr val="E7F6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41832" y="155448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181965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2258568"/>
            <a:ext cx="29169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picks worth using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62272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FF4CE"/>
          </a:solidFill>
          <a:ln w="10160">
            <a:solidFill>
              <a:srgbClr val="FFF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626864" y="155448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9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AGAIN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181965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4626864" y="2258568"/>
            <a:ext cx="29169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number but unstable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138160" y="1417320"/>
            <a:ext cx="3246120" cy="1298448"/>
          </a:xfrm>
          <a:prstGeom prst="roundRect">
            <a:avLst>
              <a:gd name="adj" fmla="val 5634"/>
            </a:avLst>
          </a:prstGeom>
          <a:solidFill>
            <a:srgbClr val="FDE7E9"/>
          </a:solidFill>
          <a:ln w="10160">
            <a:solidFill>
              <a:srgbClr val="FDE7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302752" y="155448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302752" y="1819656"/>
            <a:ext cx="2916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258568"/>
            <a:ext cx="2916936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latency advantage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127248"/>
            <a:ext cx="106070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77240" y="3127248"/>
            <a:ext cx="10607040" cy="384048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905256" y="3236976"/>
            <a:ext cx="259323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626510" y="3236976"/>
            <a:ext cx="29114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plan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702552" y="3236976"/>
            <a:ext cx="4608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is the right choice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" y="3657600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Lowest DPC p99</a:t>
            </a:r>
            <a:endParaRPr lang="en-US" sz="1020" dirty="0"/>
          </a:p>
        </p:txBody>
      </p:sp>
      <p:sp>
        <p:nvSpPr>
          <p:cNvPr id="28" name="Text 26"/>
          <p:cNvSpPr txBox="1"/>
          <p:nvPr/>
        </p:nvSpPr>
        <p:spPr>
          <a:xfrm>
            <a:off x="3626510" y="3657600"/>
            <a:ext cx="29114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6702552" y="3621024"/>
            <a:ext cx="4572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115.2 µs DPC p99, CV 0.1%.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905256" y="4078224"/>
            <a:ext cx="103510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905256" y="4224528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Balanced latency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3626510" y="4224528"/>
            <a:ext cx="29114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020" dirty="0"/>
          </a:p>
        </p:txBody>
      </p:sp>
      <p:sp>
        <p:nvSpPr>
          <p:cNvPr id="33" name="Text 31"/>
          <p:cNvSpPr txBox="1"/>
          <p:nvPr/>
        </p:nvSpPr>
        <p:spPr>
          <a:xfrm>
            <a:off x="6702552" y="4187952"/>
            <a:ext cx="4572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171.8 µs with excellent repeatability and lower combined busy.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905256" y="4645152"/>
            <a:ext cx="103510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05256" y="4791456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 overhead</a:t>
            </a:r>
            <a:endParaRPr lang="en-US" sz="1020" dirty="0"/>
          </a:p>
        </p:txBody>
      </p:sp>
      <p:sp>
        <p:nvSpPr>
          <p:cNvPr id="36" name="Text 34"/>
          <p:cNvSpPr txBox="1"/>
          <p:nvPr/>
        </p:nvSpPr>
        <p:spPr>
          <a:xfrm>
            <a:off x="3626510" y="4791456"/>
            <a:ext cx="29114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VTRL / ARSENZA</a:t>
            </a:r>
            <a:endParaRPr lang="en-US" sz="1020" dirty="0"/>
          </a:p>
        </p:txBody>
      </p:sp>
      <p:sp>
        <p:nvSpPr>
          <p:cNvPr id="37" name="Text 35"/>
          <p:cNvSpPr txBox="1"/>
          <p:nvPr/>
        </p:nvSpPr>
        <p:spPr>
          <a:xfrm>
            <a:off x="6702552" y="4754880"/>
            <a:ext cx="4572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VTRL at 1.19% and ARSENZA INTEL at 1.17% combined busy.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905256" y="5212080"/>
            <a:ext cx="103510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905256" y="5358384"/>
            <a:ext cx="25749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reference</a:t>
            </a:r>
            <a:endParaRPr lang="en-US" sz="1020" dirty="0"/>
          </a:p>
        </p:txBody>
      </p:sp>
      <p:sp>
        <p:nvSpPr>
          <p:cNvPr id="40" name="Text 38"/>
          <p:cNvSpPr txBox="1"/>
          <p:nvPr/>
        </p:nvSpPr>
        <p:spPr>
          <a:xfrm>
            <a:off x="3626510" y="5358384"/>
            <a:ext cx="29114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MSFT High Performance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6702552" y="5321808"/>
            <a:ext cx="45720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latency (176.3 µs), but not the FPS winner.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CROSS-METRIC DECISION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11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There is no universal winner across FPS and latency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single power plan should be chosen based on the metric the user actually wants to optimize.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1444752"/>
            <a:ext cx="10835640" cy="3218688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85800" y="1444752"/>
            <a:ext cx="10835640" cy="384048"/>
          </a:xfrm>
          <a:prstGeom prst="rect">
            <a:avLst/>
          </a:prstGeom>
          <a:solidFill>
            <a:srgbClr val="E8F2FF"/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13816" y="1554480"/>
            <a:ext cx="26526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Objective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594506" y="1554480"/>
            <a:ext cx="297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Recommended plan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736842" y="1554480"/>
            <a:ext cx="47114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this is the right choice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1975104"/>
            <a:ext cx="2634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FPS</a:t>
            </a:r>
            <a:endParaRPr lang="en-US" sz="1020" dirty="0"/>
          </a:p>
        </p:txBody>
      </p:sp>
      <p:sp>
        <p:nvSpPr>
          <p:cNvPr id="16" name="Text 14"/>
          <p:cNvSpPr txBox="1"/>
          <p:nvPr/>
        </p:nvSpPr>
        <p:spPr>
          <a:xfrm>
            <a:off x="3594506" y="1975104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1020" dirty="0"/>
          </a:p>
        </p:txBody>
      </p:sp>
      <p:sp>
        <p:nvSpPr>
          <p:cNvPr id="17" name="Text 15"/>
          <p:cNvSpPr txBox="1"/>
          <p:nvPr/>
        </p:nvSpPr>
        <p:spPr>
          <a:xfrm>
            <a:off x="6736842" y="1938528"/>
            <a:ext cx="467487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242.0 Avg FPS, top mean, excellent repeatability.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813816" y="2395728"/>
            <a:ext cx="105796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13816" y="2542032"/>
            <a:ext cx="2634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FPS fallback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3594506" y="2542032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EndGame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6736842" y="2505456"/>
            <a:ext cx="467487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Statistically tied with Arsenza on average FPS (p=0.09).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813816" y="2962656"/>
            <a:ext cx="105796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13816" y="3108960"/>
            <a:ext cx="2634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Deepest FPS dips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3594506" y="3108960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LLG Parking + E-core Fix</a:t>
            </a:r>
            <a:endParaRPr lang="en-US" sz="1020" dirty="0"/>
          </a:p>
        </p:txBody>
      </p:sp>
      <p:sp>
        <p:nvSpPr>
          <p:cNvPr id="25" name="Text 23"/>
          <p:cNvSpPr txBox="1"/>
          <p:nvPr/>
        </p:nvSpPr>
        <p:spPr>
          <a:xfrm>
            <a:off x="6736842" y="3072384"/>
            <a:ext cx="467487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0.1% low in the FPS workbook (170.4 FPS).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813816" y="3529584"/>
            <a:ext cx="105796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13816" y="3675888"/>
            <a:ext cx="2634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Lowest DPC p99</a:t>
            </a:r>
            <a:endParaRPr lang="en-US" sz="1020" dirty="0"/>
          </a:p>
        </p:txBody>
      </p:sp>
      <p:sp>
        <p:nvSpPr>
          <p:cNvPr id="28" name="Text 26"/>
          <p:cNvSpPr txBox="1"/>
          <p:nvPr/>
        </p:nvSpPr>
        <p:spPr>
          <a:xfrm>
            <a:off x="3594506" y="3675888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020" dirty="0"/>
          </a:p>
        </p:txBody>
      </p:sp>
      <p:sp>
        <p:nvSpPr>
          <p:cNvPr id="29" name="Text 27"/>
          <p:cNvSpPr txBox="1"/>
          <p:nvPr/>
        </p:nvSpPr>
        <p:spPr>
          <a:xfrm>
            <a:off x="6736842" y="3639312"/>
            <a:ext cx="467487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115.2 µs DPC p99; best worst-case latency result.</a:t>
            </a:r>
            <a:endParaRPr lang="en-US" sz="960" dirty="0"/>
          </a:p>
        </p:txBody>
      </p:sp>
      <p:sp>
        <p:nvSpPr>
          <p:cNvPr id="30" name="Shape 28"/>
          <p:cNvSpPr/>
          <p:nvPr/>
        </p:nvSpPr>
        <p:spPr>
          <a:xfrm>
            <a:off x="813816" y="4096512"/>
            <a:ext cx="10579608" cy="0"/>
          </a:xfrm>
          <a:prstGeom prst="line">
            <a:avLst/>
          </a:prstGeom>
          <a:noFill/>
          <a:ln w="698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813816" y="4242816"/>
            <a:ext cx="2634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Latency + safety</a:t>
            </a:r>
            <a:endParaRPr lang="en-US" sz="1020" dirty="0"/>
          </a:p>
        </p:txBody>
      </p:sp>
      <p:sp>
        <p:nvSpPr>
          <p:cNvPr id="32" name="Text 30"/>
          <p:cNvSpPr txBox="1"/>
          <p:nvPr/>
        </p:nvSpPr>
        <p:spPr>
          <a:xfrm>
            <a:off x="3594506" y="4242816"/>
            <a:ext cx="2977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020" dirty="0"/>
          </a:p>
        </p:txBody>
      </p:sp>
      <p:sp>
        <p:nvSpPr>
          <p:cNvPr id="33" name="Text 31"/>
          <p:cNvSpPr txBox="1"/>
          <p:nvPr/>
        </p:nvSpPr>
        <p:spPr>
          <a:xfrm>
            <a:off x="6736842" y="4206240"/>
            <a:ext cx="467487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and low-overhead latency profile, not just a one-run spike.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85800" y="5029200"/>
            <a:ext cx="10835640" cy="658368"/>
          </a:xfrm>
          <a:prstGeom prst="roundRect">
            <a:avLst>
              <a:gd name="adj" fmla="val 11111"/>
            </a:avLst>
          </a:prstGeom>
          <a:solidFill>
            <a:srgbClr val="FFF4CE"/>
          </a:solidFill>
          <a:ln w="10160">
            <a:solidFill>
              <a:srgbClr val="FFF4C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41832" y="526694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rule</a:t>
            </a:r>
            <a:endParaRPr lang="en-US" sz="980" dirty="0"/>
          </a:p>
        </p:txBody>
      </p:sp>
      <p:sp>
        <p:nvSpPr>
          <p:cNvPr id="36" name="Text 34"/>
          <p:cNvSpPr txBox="1"/>
          <p:nvPr/>
        </p:nvSpPr>
        <p:spPr>
          <a:xfrm>
            <a:off x="2231136" y="5248656"/>
            <a:ext cx="8613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best FPS plan is not the same as the lowest DPC p99 plan, the honest recommendation depends on the target metric.</a:t>
            </a:r>
            <a:endParaRPr lang="en-US" sz="10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INTERPRETATION RULES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12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to read the results without over-claiming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deck is a summary; the Excel files remain the place for raw runs, formulas and per-plan backup evidence.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389888"/>
            <a:ext cx="3246120" cy="363931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05840" y="162763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8F2FF"/>
          </a:solidFill>
          <a:ln w="12700">
            <a:solidFill>
              <a:srgbClr val="E8F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1051560" y="16779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870" dirty="0"/>
          </a:p>
        </p:txBody>
      </p:sp>
      <p:sp>
        <p:nvSpPr>
          <p:cNvPr id="13" name="Text 11"/>
          <p:cNvSpPr txBox="1"/>
          <p:nvPr/>
        </p:nvSpPr>
        <p:spPr>
          <a:xfrm>
            <a:off x="1024128" y="20574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Separate metrics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487168"/>
            <a:ext cx="2514600" cy="9326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FPS, low-frame FPS and DPC/ISR latency do not measure the same thing. A plan can win one objective and lose another.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480560" y="1389888"/>
            <a:ext cx="3246120" cy="363931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62763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E7F6E7"/>
          </a:solidFill>
          <a:ln w="12700">
            <a:solidFill>
              <a:srgbClr val="E7F6E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54880" y="16779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870" dirty="0"/>
          </a:p>
        </p:txBody>
      </p:sp>
      <p:sp>
        <p:nvSpPr>
          <p:cNvPr id="18" name="Text 16"/>
          <p:cNvSpPr txBox="1"/>
          <p:nvPr/>
        </p:nvSpPr>
        <p:spPr>
          <a:xfrm>
            <a:off x="4727448" y="20574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Respect statistics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27448" y="2487168"/>
            <a:ext cx="2514600" cy="9326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results are statistically tied or noisy, present them as tied or re-test candidates rather than forcing a false ranking.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183880" y="1389888"/>
            <a:ext cx="3246120" cy="363931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412480" y="1627632"/>
            <a:ext cx="1188720" cy="256032"/>
          </a:xfrm>
          <a:prstGeom prst="roundRect">
            <a:avLst>
              <a:gd name="adj" fmla="val 21429"/>
            </a:avLst>
          </a:prstGeom>
          <a:solidFill>
            <a:srgbClr val="FFF4CE"/>
          </a:solidFill>
          <a:ln w="12700">
            <a:solidFill>
              <a:srgbClr val="FFF4C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458200" y="167792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8A5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870" dirty="0"/>
          </a:p>
        </p:txBody>
      </p:sp>
      <p:sp>
        <p:nvSpPr>
          <p:cNvPr id="23" name="Text 21"/>
          <p:cNvSpPr txBox="1"/>
          <p:nvPr/>
        </p:nvSpPr>
        <p:spPr>
          <a:xfrm>
            <a:off x="8430768" y="20574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scope visible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430768" y="2487168"/>
            <a:ext cx="2514600" cy="9326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11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result is valid for this hardware, OS build and fixed scene. Encourage viewers to treat the Excel files as backup evidence.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777240" y="5349240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E8F2FF"/>
          </a:solidFill>
          <a:ln w="10160">
            <a:solidFill>
              <a:srgbClr val="E8F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98804" y="5534025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boundary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2542032" y="5525643"/>
            <a:ext cx="8266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PowerPoint = verdict summary, Excel workbooks = raw evidence, formulas and detailed per-plan backup.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2191695" cy="18288"/>
          </a:xfrm>
          <a:prstGeom prst="rect">
            <a:avLst/>
          </a:prstGeom>
          <a:solidFill>
            <a:srgbClr val="00BCF2"/>
          </a:solidFill>
          <a:ln w="12700">
            <a:solidFill>
              <a:srgbClr val="00BCF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326880" y="164592"/>
            <a:ext cx="2359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2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VERDICT</a:t>
            </a:r>
            <a:endParaRPr lang="en-US" sz="820" dirty="0"/>
          </a:p>
        </p:txBody>
      </p:sp>
      <p:sp>
        <p:nvSpPr>
          <p:cNvPr id="5" name="Shape 3"/>
          <p:cNvSpPr/>
          <p:nvPr/>
        </p:nvSpPr>
        <p:spPr>
          <a:xfrm>
            <a:off x="502920" y="6428232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0292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 · Power plan benchmark summary</a:t>
            </a:r>
            <a:endParaRPr lang="en-US" sz="780" dirty="0"/>
          </a:p>
        </p:txBody>
      </p:sp>
      <p:sp>
        <p:nvSpPr>
          <p:cNvPr id="7" name="Text 5"/>
          <p:cNvSpPr txBox="1"/>
          <p:nvPr/>
        </p:nvSpPr>
        <p:spPr>
          <a:xfrm>
            <a:off x="6537960" y="6510528"/>
            <a:ext cx="5138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78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Alchemy Tweaks in-house Excel workbooks · Slide 13</a:t>
            </a:r>
            <a:endParaRPr lang="en-US" sz="78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8912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recommendation: optimize for the bottleneck, not for the plan name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12064" y="960120"/>
            <a:ext cx="8961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 supports a split recommendation: one FPS winner, one latency winner and one balanced latency option.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155448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1554480"/>
            <a:ext cx="73152" cy="160020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96112" y="17007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FOR FPS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19933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Arsenza INTEL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414016"/>
            <a:ext cx="31089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242.0 Avg FPS · best overall FPS verdict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4407408" y="155448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407408" y="1554480"/>
            <a:ext cx="73152" cy="1600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17007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FOR DPC P99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19933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Kizzimo Extreme LL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414016"/>
            <a:ext cx="31089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115.2 µs DPC p99 · clear latency leader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083296" y="1554480"/>
            <a:ext cx="3383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83296" y="1554480"/>
            <a:ext cx="73152" cy="16002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247888" y="1700784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FOR BALANCED LATENCY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8247888" y="19933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amit's low latency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247888" y="2414016"/>
            <a:ext cx="31089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97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171.8 µs · low overhead · consistent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731520" y="3749040"/>
            <a:ext cx="10735056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987552" y="40233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Final interpretation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4407408"/>
            <a:ext cx="9692640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 plans are not magic switches. In this dataset, the best plan depends on whether you care most about FPS throughput, low-frame smoothness, DPC latency or interrupt overhead.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" y="58704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5A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Alchemy Tweaks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063240" y="5907024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Benchmark summary deck · FPS and latency analysis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2427</Words>
  <Application>Microsoft Office PowerPoint</Application>
  <PresentationFormat>Widescreen</PresentationFormat>
  <Paragraphs>371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Alchemy Tweaks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Plan Benchmark — FPS &amp; Latency</dc:title>
  <dc:subject>Power Plan FPS and Latency Benchmark Summary</dc:subject>
  <dc:creator>Alchemy Tweaks</dc:creator>
  <cp:lastModifiedBy>Alchemy .</cp:lastModifiedBy>
  <cp:revision>29</cp:revision>
  <dcterms:created xsi:type="dcterms:W3CDTF">2026-06-26T16:27:19Z</dcterms:created>
  <dcterms:modified xsi:type="dcterms:W3CDTF">2026-06-27T13:33:30Z</dcterms:modified>
</cp:coreProperties>
</file>